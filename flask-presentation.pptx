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7"/>
  </p:notesMasterIdLst>
  <p:sldIdLst>
    <p:sldId id="275" r:id="rId2"/>
    <p:sldId id="274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66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5F5F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F5F5F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2011680" cy="2011680"/>
          </a:xfrm>
          <a:prstGeom prst="ellipse">
            <a:avLst/>
          </a:prstGeom>
          <a:solidFill>
            <a:srgbClr val="2D3561">
              <a:alpha val="70000"/>
            </a:srgbClr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640080"/>
            <a:ext cx="1280160" cy="1280160"/>
          </a:xfrm>
          <a:prstGeom prst="ellipse">
            <a:avLst/>
          </a:prstGeom>
          <a:solidFill>
            <a:srgbClr val="2D3561">
              <a:alpha val="8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000615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}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922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F5F5"/>
                </a:solidFill>
              </a:rPr>
              <a:t>● ● 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92240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D35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92240" y="3163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D35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92240" y="3401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@app.route('/')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92240" y="3621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D35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index():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76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41148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Python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Deployment Machine Learning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371600" cy="320040"/>
          </a:xfrm>
          <a:prstGeom prst="rect">
            <a:avLst/>
          </a:prstGeom>
          <a:solidFill>
            <a:srgbClr val="4F8EF7">
              <a:alpha val="80000"/>
            </a:srgbClr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154680"/>
            <a:ext cx="1371600" cy="320040"/>
          </a:xfrm>
          <a:prstGeom prst="rect">
            <a:avLst/>
          </a:prstGeom>
          <a:solidFill>
            <a:srgbClr val="4F8EF7">
              <a:alpha val="80000"/>
            </a:srgbClr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3154680"/>
            <a:ext cx="1371600" cy="320040"/>
          </a:xfrm>
          <a:prstGeom prst="rect">
            <a:avLst/>
          </a:prstGeom>
          <a:solidFill>
            <a:srgbClr val="4F8EF7">
              <a:alpha val="80000"/>
            </a:srgbClr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Implementasi: Titanic · HeartCheck · Regresi · ARIMA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30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Flask?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63500" dist="254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" cy="36576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adalah micro web framework berbasis Python yang dikembangkan oleh Armin Ronacher pada tahun 2010. Flask bersifat minimalis — tidak memaksakan struktur aplikasi tertentu dan tidak menyertakan komponen bawaan seperti database layer atau form validation.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3566160" cy="27432"/>
          </a:xfrm>
          <a:prstGeom prst="rect">
            <a:avLst/>
          </a:prstGeom>
          <a:solidFill>
            <a:srgbClr val="E8EDF8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"Micro" bukan berarti kecil —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melainkan sederhana dan dapat diperluas sesuai kebutuhan.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Inti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91363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58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(WSGI toolkit)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151376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(template engine)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38912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34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(CLI)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1920240" cy="1005840"/>
          </a:xfrm>
          <a:prstGeom prst="rect">
            <a:avLst/>
          </a:prstGeom>
          <a:solidFill>
            <a:srgbClr val="E8EDF8"/>
          </a:solidFill>
          <a:ln w="6350">
            <a:solidFill>
              <a:srgbClr val="4F8EF7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124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F36"/>
                </a:solidFill>
              </a:rPr>
              <a:t>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20640" y="1124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064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1051560"/>
            <a:ext cx="1920240" cy="1005840"/>
          </a:xfrm>
          <a:prstGeom prst="rect">
            <a:avLst/>
          </a:prstGeom>
          <a:solidFill>
            <a:srgbClr val="FF6B35"/>
          </a:solidFill>
          <a:ln w="6350">
            <a:solidFill>
              <a:srgbClr val="FF6B35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124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F36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1124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Framework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1920240" cy="1005840"/>
          </a:xfrm>
          <a:prstGeom prst="rect">
            <a:avLst/>
          </a:prstGeom>
          <a:solidFill>
            <a:srgbClr val="E8EDF8"/>
          </a:solidFill>
          <a:ln w="6350">
            <a:solidFill>
              <a:srgbClr val="4F8EF7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F36"/>
                </a:solidFill>
              </a:rPr>
              <a:t>📦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100KB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2286000"/>
            <a:ext cx="1920240" cy="1005840"/>
          </a:xfrm>
          <a:prstGeom prst="rect">
            <a:avLst/>
          </a:prstGeom>
          <a:solidFill>
            <a:srgbClr val="FF6B35"/>
          </a:solidFill>
          <a:ln w="6350">
            <a:solidFill>
              <a:srgbClr val="FF6B35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F36"/>
                </a:solidFill>
              </a:rPr>
              <a:t>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2376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68K+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0" y="3520440"/>
            <a:ext cx="1920240" cy="1005840"/>
          </a:xfrm>
          <a:prstGeom prst="rect">
            <a:avLst/>
          </a:prstGeom>
          <a:solidFill>
            <a:srgbClr val="E8EDF8"/>
          </a:solidFill>
          <a:ln w="6350">
            <a:solidFill>
              <a:srgbClr val="4F8EF7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3593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F36"/>
                </a:solidFill>
              </a:rPr>
              <a:t>🌐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12064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Lisensi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064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BSD-3-Clause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75120" y="3520440"/>
            <a:ext cx="1920240" cy="1005840"/>
          </a:xfrm>
          <a:prstGeom prst="rect">
            <a:avLst/>
          </a:prstGeom>
          <a:solidFill>
            <a:srgbClr val="FF6B35"/>
          </a:solidFill>
          <a:ln w="6350">
            <a:solidFill>
              <a:srgbClr val="FF6B35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66560" y="3593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F36"/>
                </a:solidFill>
              </a:rPr>
              <a:t>🚀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22376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Stabil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2376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7174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&amp; Kegunaan Flask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51560"/>
            <a:ext cx="2788920" cy="1691640"/>
          </a:xfrm>
          <a:prstGeom prst="rect">
            <a:avLst/>
          </a:prstGeom>
          <a:solidFill>
            <a:srgbClr val="E8EDF8"/>
          </a:solidFill>
          <a:ln w="6350">
            <a:solidFill>
              <a:srgbClr val="4F8EF7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51560"/>
            <a:ext cx="27889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1188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&amp; Routing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Mendaftarkan URL endpoint dan menangani request HTTP (GET, POST, PUT, DELETE). Setiap route dihubungkan dengan fungsi Python via dekorator @app.route.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248" y="1051560"/>
            <a:ext cx="2788920" cy="1691640"/>
          </a:xfrm>
          <a:prstGeom prst="rect">
            <a:avLst/>
          </a:prstGeom>
          <a:solidFill>
            <a:srgbClr val="FF6B35"/>
          </a:solidFill>
          <a:ln w="6350">
            <a:solidFill>
              <a:srgbClr val="FF6B35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7248" y="1051560"/>
            <a:ext cx="27889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67328" y="1188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Template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4408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Jinja2 untuk menghasilkan halaman HTML dinamis. Variabel dari Python dikirim ke HTML dan di-render secara server-side.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051560"/>
            <a:ext cx="2788920" cy="16916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1051560"/>
            <a:ext cx="27889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93408" y="1188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Model ML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0488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model machine learning (joblib, pickle, ONNX) dan menyediakan REST API endpoint sehingga model bisa diakses via browser atau aplikasi lain.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926080"/>
            <a:ext cx="2788920" cy="1691640"/>
          </a:xfrm>
          <a:prstGeom prst="rect">
            <a:avLst/>
          </a:prstGeom>
          <a:solidFill>
            <a:srgbClr val="FAF5FF"/>
          </a:solidFill>
          <a:ln w="6350">
            <a:solidFill>
              <a:srgbClr val="DDD6FE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92608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🗄️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" y="3063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input form HTML, memvalidasi data, lalu meneruskan ke model atau database. Mendukung SQLite, PostgreSQL, dan ORM seperti SQLAlchemy.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27248" y="2926080"/>
            <a:ext cx="2788920" cy="1691640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27248" y="2926080"/>
            <a:ext cx="27889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🔐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767328" y="3063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&amp; Sesi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64408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session pengguna, cookie, dan login/logout. Flask-Login dan Werkzeug mempermudah implementasi sistem autentikasi yang aman.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2926080"/>
            <a:ext cx="2788920" cy="1691640"/>
          </a:xfrm>
          <a:prstGeom prst="rect">
            <a:avLst/>
          </a:prstGeom>
          <a:solidFill>
            <a:srgbClr val="ECFEFF"/>
          </a:solidFill>
          <a:ln w="6350">
            <a:solidFill>
              <a:srgbClr val="A5F3FC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2926080"/>
            <a:ext cx="2788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📡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693408" y="30632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90488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API endpoint yang mengembalikan JSON. Cocok sebagai backend untuk aplikasi React, Vue, Flutter, atau mobile app.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6704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Flask?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Flask menjadi pilihan utama untuk deployment model 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18872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19202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Framework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Terpopuler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1920240" cy="118872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325880"/>
            <a:ext cx="192024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68K+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(dan terus bertambah)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920240" cy="118872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25880"/>
            <a:ext cx="19202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&lt;1min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awal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hingga berjalan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325880"/>
            <a:ext cx="1920240" cy="118872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325880"/>
            <a:ext cx="19202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0372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Bebas pilih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sendiri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2788920" cy="82296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dipelajari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intuitif, dokumentasi lengkap. Hello World bisa dibuat dalam 5 baris kode.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788920" cy="82296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0332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Fleksibel &amp; modular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033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struktur paksa — tambahkan hanya komponen yang benar-benar dibutuhkan.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788920" cy="82296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🔬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94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untuk prototyping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294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Cepatkan proses dari eksperimen Jupyter Notebook ke aplikasi web yang bisa diakses tim.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2788920" cy="82296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13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🏭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772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production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724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Netflix, LinkedIn, Reddit, Airbnb. Terbukti bisa menangani jutaan request.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3749040"/>
            <a:ext cx="2788920" cy="82296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913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🤝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7033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ML sempurna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7033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 sklearn/joblib, terima input JSON, kembalikan prediksi — hanya butuh beberapa baris.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3749040"/>
            <a:ext cx="2788920" cy="82296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913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📚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6294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luas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6294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Flask-Login, Flask-SQLAlchemy, Flask-RESTful, dll. Memperluas kemampuan sesuai kebutuhan.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1732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vs Framework Python Lainnya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005840"/>
            <a:ext cx="182880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8288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005840"/>
            <a:ext cx="1828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417320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463040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1417320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146304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Framework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46304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Framework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1417320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46304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ASGI Framework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1810512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856232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Belajar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1810512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1856232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Mudah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810512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856232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Menengah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1810512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1856232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Ringan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203704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249424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Bawaan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2203704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224942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Tidak ada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203704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24942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Django 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92240" y="2203704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24942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Tidak ada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2596896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642616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2596896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07792" y="2642616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Tidak ada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2596896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642616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92240" y="2596896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2642616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Tidak ada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2990088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035808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Support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34640" y="2990088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07792" y="3035808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2990088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3035808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92240" y="2990088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3035808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 async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3383280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429000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34640" y="3383280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07792" y="342900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63440" y="3383280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342900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92240" y="3383280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65392" y="342900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Baik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3776472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3822192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834640" y="3776472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07792" y="3822192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663440" y="3776472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3822192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 / Jinja2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492240" y="3776472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65392" y="3822192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Opsional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74320" y="4169664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215384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ML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834640" y="4169664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07792" y="421538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Sangat cocok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663440" y="4169664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421538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Bisa, lebih berat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492240" y="4169664"/>
            <a:ext cx="1828800" cy="3931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65392" y="4215384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Sangat cocok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74320" y="4562856"/>
            <a:ext cx="2560320" cy="39319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7472" y="4608576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Project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834640" y="4562856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907792" y="4608576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Kecil–Menengah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663440" y="4562856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36592" y="4608576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Menengah–Besar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492240" y="4562856"/>
            <a:ext cx="18288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65392" y="4608576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2834640" y="1005840"/>
            <a:ext cx="1828800" cy="3547872"/>
          </a:xfrm>
          <a:prstGeom prst="rect">
            <a:avLst/>
          </a:prstGeom>
          <a:solidFill>
            <a:srgbClr val="E8EDF8">
              <a:alpha val="40000"/>
            </a:srgbClr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752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vs Gradio — Perbandingan Mendalam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9100" y="704088"/>
            <a:ext cx="685800" cy="685800"/>
          </a:xfrm>
          <a:prstGeom prst="ellipse">
            <a:avLst/>
          </a:prstGeom>
          <a:solidFill>
            <a:srgbClr val="1A1F36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9100" y="777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379476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FLASK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74920" y="987552"/>
            <a:ext cx="37947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987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GRADIO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3794760" cy="566928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4533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web framework — untuk semua jenis aplikasi web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508760"/>
            <a:ext cx="3794760" cy="566928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54533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Khusus demo model ML — buat UI cepat untuk model AI/ML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69080" y="1508760"/>
            <a:ext cx="10058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54533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37947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1284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Sepenuhnya custom — HTML, CSS, JS bebas didesain sesuai kebutuhan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2176272"/>
            <a:ext cx="37947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21284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pre-built (slider, image, text) — tampilan terbatas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176272"/>
            <a:ext cx="10058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221284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UI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843784"/>
            <a:ext cx="3794760" cy="566928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803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atas routing, template, logic, database, autentikasi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2843784"/>
            <a:ext cx="3794760" cy="566928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8803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terbatas — hanya untuk input/output model sederhana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9080" y="2843784"/>
            <a:ext cx="10058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288036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511296"/>
            <a:ext cx="37947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4787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Production-ready — bisa deploy ke server, cloud, container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3511296"/>
            <a:ext cx="37947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54787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Lebih cocok untuk demo &amp; prototyping cepat (Hugging Face Spaces)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69080" y="3511296"/>
            <a:ext cx="10058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69080" y="35478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78808"/>
            <a:ext cx="3794760" cy="566928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21538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belajar routing, HTML, Jinja2 — investasi waktu awal lebih tinggi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74920" y="4178808"/>
            <a:ext cx="3794760" cy="566928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21538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cepat — 3-5 baris kode sudah dapat UI yang berjalan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69080" y="4178808"/>
            <a:ext cx="10058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69080" y="421538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Belajar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463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Kesimpulan: Gunakan Gradio untuk demo cepat di lab/notebook. Gunakan Flask ketika butuh aplikasi yang dapat dikustomisasi, production-ready, dan memiliki UX yang baik.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48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Flask — Request &amp; Response 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600200" cy="10058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63500" dist="25400" dir="8100000" algn="bl" rotWithShape="0">
              <a:srgbClr val="1A1F36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9222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buka URL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01952" y="1554480"/>
            <a:ext cx="201168" cy="731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14813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097280"/>
            <a:ext cx="16002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A1F36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8483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312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79222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/ Gunicorn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39312" y="1554480"/>
            <a:ext cx="201168" cy="731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4813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097280"/>
            <a:ext cx="160020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1A1F36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2219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179222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@app.route('/') 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76672" y="1554480"/>
            <a:ext cx="201168" cy="731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14813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097280"/>
            <a:ext cx="1600200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1A1F36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5955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7784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Function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179222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Model 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14032" y="1554480"/>
            <a:ext cx="201168" cy="731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14813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1097280"/>
            <a:ext cx="1600200" cy="10058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63500" dist="25400" dir="8100000" algn="bl" rotWithShape="0">
              <a:srgbClr val="1A1F36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9691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179222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331720"/>
            <a:ext cx="5303520" cy="2514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331720"/>
            <a:ext cx="5303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350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app.py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27889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render_template, request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29900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joblib, numpy as np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31912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3924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3593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joblib.load('model.joblib')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3794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3995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@app.route('/', methods=['GET', 'POST'])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41970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index():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" y="43982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model.predict(features)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45994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render_template('index.html')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60720" y="2359152"/>
            <a:ext cx="3108960" cy="457200"/>
          </a:xfrm>
          <a:prstGeom prst="rect">
            <a:avLst/>
          </a:prstGeom>
          <a:solidFill>
            <a:srgbClr val="E8EDF8"/>
          </a:solidFill>
          <a:ln w="5080">
            <a:solidFill>
              <a:srgbClr val="E8ED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2359152"/>
            <a:ext cx="64008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23774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97880" y="2578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 aplikasi Flask. __name__ memberitahu Flask lokasi folder templates &amp; static.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60720" y="2889504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0" y="2889504"/>
            <a:ext cx="64008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97880" y="29077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@app.route('/path')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97880" y="3108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Dekorator untuk mendaftarkan fungsi sebagai handler URL tertentu.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0" y="3419856"/>
            <a:ext cx="3108960" cy="457200"/>
          </a:xfrm>
          <a:prstGeom prst="rect">
            <a:avLst/>
          </a:prstGeom>
          <a:solidFill>
            <a:srgbClr val="E8EDF8"/>
          </a:solidFill>
          <a:ln w="5080">
            <a:solidFill>
              <a:srgbClr val="E8ED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60720" y="3419856"/>
            <a:ext cx="64008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97880" y="34381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request.method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897880" y="36393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apakah request adalah GET (buka halaman) atau POST (submit form).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60720" y="3950208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D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0" y="3950208"/>
            <a:ext cx="64008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97880" y="39684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render_template()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897880" y="41696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file HTML dari folder /templates/ dengan variabel dinamis Jinja2.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0720" y="4480560"/>
            <a:ext cx="3108960" cy="457200"/>
          </a:xfrm>
          <a:prstGeom prst="rect">
            <a:avLst/>
          </a:prstGeom>
          <a:solidFill>
            <a:srgbClr val="E8EDF8"/>
          </a:solidFill>
          <a:ln w="5080">
            <a:solidFill>
              <a:srgbClr val="E8ED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60720" y="4480560"/>
            <a:ext cx="64008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97880" y="44988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app.run(debug=True)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897880" y="47000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server development. Debug mode: auto-reload saat kode berubah.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67397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Jinja2 — HTML Dinamis dengan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29260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templates/index.html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Variabel dari Flask --&gt;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&lt;h2&gt;Hasil: {{ prediction }}&lt;/h2&gt;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8562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&lt;p&gt;Akurasi: {{ accuracy }}%&lt;/p&gt;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295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Kondisional if/else --&gt;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14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if prediction == 'Selamat' %}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734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class='success'&gt;✓ Selamat!&lt;/div&gt;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953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else %}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172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class='danger'&gt;✗ Tidak&lt;/div&gt;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392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endif %}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611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8313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Loop untuk riwayat --&gt;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050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item in riwayat %}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270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&lt;li&gt;{{ item.date }} - {{ item.result }}&lt;/li&gt;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489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4114800" cy="822960"/>
          </a:xfrm>
          <a:prstGeom prst="rect">
            <a:avLst/>
          </a:prstGeom>
          <a:solidFill>
            <a:srgbClr val="FFFFFF"/>
          </a:solidFill>
          <a:ln w="5080">
            <a:solidFill>
              <a:srgbClr val="E8EDF8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24128"/>
            <a:ext cx="960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16128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}}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0" y="1088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1408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Sisipkan variabel Python ke HTML. Contoh: {{ prediction }} akan diganti nilai dari Flask.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984248"/>
            <a:ext cx="4114800" cy="822960"/>
          </a:xfrm>
          <a:prstGeom prst="rect">
            <a:avLst/>
          </a:prstGeom>
          <a:solidFill>
            <a:srgbClr val="FFFFFF"/>
          </a:solidFill>
          <a:ln w="5080">
            <a:solidFill>
              <a:srgbClr val="E8EDF8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984248"/>
            <a:ext cx="960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12140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%}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0720" y="2048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0720" y="2368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alur: if/else, for loop, block, extends. Membuat HTML yang dinamis dan reusable.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944368"/>
            <a:ext cx="4114800" cy="822960"/>
          </a:xfrm>
          <a:prstGeom prst="rect">
            <a:avLst/>
          </a:prstGeom>
          <a:solidFill>
            <a:srgbClr val="FFFFFF"/>
          </a:solidFill>
          <a:ln w="5080">
            <a:solidFill>
              <a:srgbClr val="E8EDF8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944368"/>
            <a:ext cx="960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0815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#}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60720" y="3008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60720" y="3328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 dalam template yang tidak ditampilkan di output HTML akhir.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904488"/>
            <a:ext cx="4114800" cy="822960"/>
          </a:xfrm>
          <a:prstGeom prst="rect">
            <a:avLst/>
          </a:prstGeom>
          <a:solidFill>
            <a:srgbClr val="FFFFFF"/>
          </a:solidFill>
          <a:ln w="5080">
            <a:solidFill>
              <a:srgbClr val="E8EDF8"/>
            </a:solidFill>
            <a:prstDash val="solid"/>
          </a:ln>
          <a:effectLst>
            <a:outerShdw blurRad="38100" dist="12700" dir="8100000" algn="bl" rotWithShape="0">
              <a:srgbClr val="1A1F36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904488"/>
            <a:ext cx="960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416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|filter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760720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60720" y="42885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data: {{ value|round(2) }}, {{ text|upper }}, {{ list|length }}.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818888"/>
            <a:ext cx="4114800" cy="2286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8371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Tips: Gunakan {% extends 'base.html' %} untuk menghindari duplikasi kode di setiap halaman!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222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Flask dengan Model Machine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8288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notebook eksperimen ke aplikasi web yang bisa diakses semua orang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50876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A1F36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F36"/>
                </a:solidFill>
              </a:rPr>
              <a:t>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sklearn, joblib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93392" y="17373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5F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21408" y="1280160"/>
            <a:ext cx="1508760" cy="1417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76200" dist="25400" dir="8100000" algn="bl" rotWithShape="0">
              <a:srgbClr val="1A1F36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67128" y="12984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78608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F36"/>
                </a:solidFill>
              </a:rPr>
              <a:t>💾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67128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67128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model.joblib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17373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5F5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85616" y="1280160"/>
            <a:ext cx="1508760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1A1F3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31336" y="12984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42816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F36"/>
                </a:solidFill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31336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 Flask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31336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joblib.load()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 startup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1808" y="17373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5F5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49824" y="1280160"/>
            <a:ext cx="1508760" cy="1417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8100000" algn="bl" rotWithShape="0">
              <a:srgbClr val="1A1F36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95544" y="12984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07024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F36"/>
                </a:solidFill>
              </a:rPr>
              <a:t>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95544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95544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terima input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86016" y="17373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5F5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114032" y="1280160"/>
            <a:ext cx="1508760" cy="1417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76200" dist="25400" dir="8100000" algn="bl" rotWithShape="0">
              <a:srgbClr val="1A1F36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59752" y="12984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571232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A1F36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59752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59752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kembalikan hasil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834640"/>
            <a:ext cx="4114800" cy="2011680"/>
          </a:xfrm>
          <a:prstGeom prst="rect">
            <a:avLst/>
          </a:prstGeom>
          <a:solidFill>
            <a:srgbClr val="1A1F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834640"/>
            <a:ext cx="4114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Integrasi Lengkap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316382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model sekali saat startup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4360" y="3355848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joblib.load('model.joblib')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" y="354787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3739896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@app.route('/predict', methods=['POST'])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4360" y="393192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predict():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4360" y="412394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 = float(request.form['age'])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94360" y="4315968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   = np.array([[age, ...]])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" y="450799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model.predict(X)[0]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4360" y="4700016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 = model.predict_proba(X)[0]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4360" y="489204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render_template('result.html',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94360" y="508406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prediction=pred, confidence=prob)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54880" y="2852928"/>
            <a:ext cx="4114800" cy="457200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⚡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212080" y="28895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sekali, prediksi jutaan kali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212080" y="30998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di-load saat server start. Tidak perlu reload tiap request — sangat efisien.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3383280"/>
            <a:ext cx="4114800" cy="457200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📊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212080" y="34198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212080" y="36301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 memberikan probabilitas per kelas, bukan sekedar label.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54880" y="3913632"/>
            <a:ext cx="4114800" cy="457200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📝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212080" y="3950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212080" y="4160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validasi input sebelum dimasukkan ke model — try/except untuk handling error.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54880" y="4443984"/>
            <a:ext cx="4114800" cy="457200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F36"/>
                </a:solidFill>
              </a:rPr>
              <a:t>🔄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212080" y="44805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Preprocessing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5212080" y="4690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sklearn Pipeline agar preprocessing di training = di inference.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2640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Titanic Survival Predictor (Versi Sederhana)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50800" dist="127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023360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 Titanic Survival Predictor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alur dasar Flask — dari input form HTML hingga menampilkan hasil prediksi model machine learning.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1097280" cy="3017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780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63040" y="2450592"/>
            <a:ext cx="2743200" cy="30175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47802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(200 baris inline)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1097280" cy="3017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2549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63040" y="2798064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8254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(max_depth=4)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45536"/>
            <a:ext cx="1097280" cy="3017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729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Input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463040" y="3145536"/>
            <a:ext cx="2743200" cy="30175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172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Pclass, Sex, Age, Fare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1097280" cy="3017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04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63040" y="3493008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520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/ Tidak Selamat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1097280" cy="3017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679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463040" y="3840480"/>
            <a:ext cx="2743200" cy="301752"/>
          </a:xfrm>
          <a:prstGeom prst="rect">
            <a:avLst/>
          </a:prstGeom>
          <a:solidFill>
            <a:srgbClr val="E8EDF8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38679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+ akurasi model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1097280" cy="3017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1538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463040" y="4187952"/>
            <a:ext cx="2743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42153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http://127.0.0.1:5000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1024128"/>
            <a:ext cx="4297680" cy="3749040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8"/>
            </a:solidFill>
            <a:prstDash val="solid"/>
          </a:ln>
          <a:effectLst>
            <a:outerShdw blurRad="63500" dist="254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1024128"/>
            <a:ext cx="4297680" cy="292608"/>
          </a:xfrm>
          <a:prstGeom prst="rect">
            <a:avLst/>
          </a:prstGeom>
          <a:solidFill>
            <a:srgbClr val="E8EDF8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04241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localhost:5000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1316736"/>
            <a:ext cx="429768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3441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 Titanic Survival Predictor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09160" y="1810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Penumpang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1993392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00253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(Kelas 2)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Kelamin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2414016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4231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2651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(tahun)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2834640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28437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3072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Tiket (fare)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3255264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32644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66560" y="1810512"/>
            <a:ext cx="2011680" cy="1691640"/>
          </a:xfrm>
          <a:prstGeom prst="rect">
            <a:avLst/>
          </a:prstGeom>
          <a:solidFill>
            <a:srgbClr val="E8EDF8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Info Model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Akurasi: 82.5%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0" y="23225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Decision Tree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Depth: 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09160" y="3547872"/>
            <a:ext cx="1920240" cy="2926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566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Prediksi Sekarang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3913632"/>
            <a:ext cx="429768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950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SELAMAT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4663440" y="43159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kepercayaan: 78.5%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55338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HeartCheck: Heart Disease Predictor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8595360" cy="36576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91440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 Tema Kesehatan Hijau-Putih · 918 pasien · Random Forest + Pipeline · Autentikasi SQLite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18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F36"/>
                </a:solidFill>
              </a:rPr>
              <a:t>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1618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05740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page profesional dengan statistik model (akurasi, AUC-ROC), cara kerja sistem, dan CTA.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50876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50876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18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F36"/>
                </a:solidFill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1618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Prediksi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05740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fitur klinis dengan tooltip ⓘ, 6 profil contoh pasien realistis, hasil prediksi di bawah form.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50876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18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F36"/>
                </a:solidFill>
              </a:rPr>
              <a:t>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1618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05740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daftar &amp; masuk akun menggunakan SQLite + Werkzeug bcrypt hash. Session management Flask.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6324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729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F36"/>
                </a:solidFill>
              </a:rPr>
              <a:t>📜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8680" y="3172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Prediksi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prediksi disimpan ke database SQLite jika pengguna login. Ditampilkan sebagai accordion card.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306324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306324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1729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F36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749040" y="3172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46120" y="36118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top-10 fitur paling penting dalam model. Menjelaskan keputusan model secara visual.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06324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1A1F36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3063240"/>
            <a:ext cx="26974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1729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F36"/>
                </a:solidFill>
              </a:rPr>
              <a:t>ℹ️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629400" y="3172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Tentang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26480" y="361188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medis, pipeline model, FAQ, dan disclaimer. Transparansi untuk pengguna awam.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818888"/>
            <a:ext cx="8595360" cy="2377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45920" y="48463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561"/>
                </a:solidFill>
              </a:rPr>
              <a:t> · 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8308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StandardScaler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71800" y="48463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561"/>
                </a:solidFill>
              </a:rPr>
              <a:t> · 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10896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97680" y="48463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561"/>
                </a:solidFill>
              </a:rPr>
              <a:t> ·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3484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23560" y="48463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561"/>
                </a:solidFill>
              </a:rPr>
              <a:t> · 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76072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49440" y="48463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561"/>
                </a:solidFill>
              </a:rPr>
              <a:t> · 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866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Werkzeug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75320" y="48463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561"/>
                </a:solidFill>
              </a:rPr>
              <a:t> · 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1248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601200" y="48463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561"/>
                </a:solidFill>
              </a:rPr>
              <a:t> ·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924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&amp; 4 — Regresi dan Time Series ARIMA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63500" dist="254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Regresi — House Price Estimator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934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572768"/>
            <a:ext cx="2743200" cy="320040"/>
          </a:xfrm>
          <a:prstGeom prst="rect">
            <a:avLst/>
          </a:prstGeom>
          <a:solidFill>
            <a:srgbClr val="FAF5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618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Housing (195 baris inline)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933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54480" y="1956816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002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40864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774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4480" y="2340864"/>
            <a:ext cx="2743200" cy="320040"/>
          </a:xfrm>
          <a:prstGeom prst="rect">
            <a:avLst/>
          </a:prstGeom>
          <a:solidFill>
            <a:srgbClr val="FAF5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2386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+ Mean Absolute Error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24912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614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Input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27249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2770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RM, LSTAT, PTRATIO, CHAS, RAD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455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54480" y="3108960"/>
            <a:ext cx="2743200" cy="320040"/>
          </a:xfrm>
          <a:prstGeom prst="rect">
            <a:avLst/>
          </a:prstGeom>
          <a:solidFill>
            <a:srgbClr val="FAF5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3154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Harga + Interval ±MAE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93008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2958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554480" y="3493008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3538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http://127.0.0.1:5002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904488"/>
            <a:ext cx="3840480" cy="237744"/>
          </a:xfrm>
          <a:prstGeom prst="rect">
            <a:avLst/>
          </a:prstGeom>
          <a:solidFill>
            <a:srgbClr val="F3E8FF"/>
          </a:solidFill>
          <a:ln w="508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904488"/>
            <a:ext cx="326440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22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 0.85  ████████████████░░░░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2519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Interval kepercayaan ±MAE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519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349931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Gauge bar posisi harga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98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Landing page penjelasan model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59152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Interval kepercayaan ±MAE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Gauge bar posisi harga relatif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Landing page + penjelasan model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1024128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63500" dist="254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1024128"/>
            <a:ext cx="41148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10424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ARIMA — Whoosh Passenger Forecast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1572768"/>
            <a:ext cx="118872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160934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1572768"/>
            <a:ext cx="2743200" cy="320040"/>
          </a:xfrm>
          <a:prstGeom prst="rect">
            <a:avLst/>
          </a:prstGeom>
          <a:solidFill>
            <a:srgbClr val="F0FDFA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618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Sintetis penumpang Whoosh (30 bulan)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1956816"/>
            <a:ext cx="118872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19933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1956816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2002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 — statsmodels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2340864"/>
            <a:ext cx="118872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23774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35040" y="2340864"/>
            <a:ext cx="2743200" cy="320040"/>
          </a:xfrm>
          <a:prstGeom prst="rect">
            <a:avLst/>
          </a:prstGeom>
          <a:solidFill>
            <a:srgbClr val="F0FDFA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2386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Jakarta–Bandung (Kereta Cepat)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2724912"/>
            <a:ext cx="118872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27614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35040" y="27249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2770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3–24 bulan ke depan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46320" y="3108960"/>
            <a:ext cx="118872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31455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35040" y="3108960"/>
            <a:ext cx="2743200" cy="320040"/>
          </a:xfrm>
          <a:prstGeom prst="rect">
            <a:avLst/>
          </a:prstGeom>
          <a:solidFill>
            <a:srgbClr val="F0FDFA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3154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Chart.js: historis + garis forecast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46320" y="3493008"/>
            <a:ext cx="118872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352958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35040" y="3493008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DF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26480" y="3538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http://127.0.0.1:5003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846320" y="3904488"/>
            <a:ext cx="3931920" cy="868680"/>
          </a:xfrm>
          <a:prstGeom prst="rect">
            <a:avLst/>
          </a:prstGeom>
          <a:solidFill>
            <a:srgbClr val="F0FDFA"/>
          </a:solidFill>
          <a:ln w="5080">
            <a:solidFill>
              <a:srgbClr val="A7F3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37760" y="4498848"/>
            <a:ext cx="22860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39512" y="4361688"/>
            <a:ext cx="2286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41264" y="4453128"/>
            <a:ext cx="22860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43016" y="4270248"/>
            <a:ext cx="2286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44768" y="4315968"/>
            <a:ext cx="2286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46520" y="4224528"/>
            <a:ext cx="2286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48272" y="4133088"/>
            <a:ext cx="2286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50024" y="4407408"/>
            <a:ext cx="22860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51776" y="4041648"/>
            <a:ext cx="228600" cy="73152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53528" y="4087368"/>
            <a:ext cx="228600" cy="68580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955280" y="3995928"/>
            <a:ext cx="228600" cy="77724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57032" y="3950208"/>
            <a:ext cx="228600" cy="82296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92040" y="47365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                           Forecast →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95132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 Proyek Flask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contoh proyek di folder ini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389120" cy="3703320"/>
          </a:xfrm>
          <a:prstGeom prst="rect">
            <a:avLst/>
          </a:prstGeom>
          <a:solidFill>
            <a:srgbClr val="1A1F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3891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contoh-flask/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contoh-flask/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               ← Entry point Flask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train_simple.py      ← Training 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model.joblib         ← Model tersimpan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     ← Dependensi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           ← HTML Jinja2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734056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index.html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klasifikasi/         ← HeartCheck App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118104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310128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database.py      ← SQLite helper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model.joblib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694176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templates/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base.html    ← Master layout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078224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prediksi.html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270248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riwayat.html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4462272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regresi/             ← House Price App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654296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arima/               ← Whoosh Forecast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0" y="1252728"/>
            <a:ext cx="3931920" cy="658368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1252728"/>
            <a:ext cx="64008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36"/>
                </a:solidFill>
              </a:rPr>
              <a:t>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68112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sebagai entry point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1572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route, konfigurasi Flask, dan inisialisasi model ada di sini. Load model sekali di luar fungsi route.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2002536"/>
            <a:ext cx="3931920" cy="658368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2002536"/>
            <a:ext cx="64008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36"/>
                </a:solidFill>
              </a:rPr>
              <a:t>🗂️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68112" y="2048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templates/ untuk HTML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23225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mencari template di folder ini secara otomatis. Gunakan base.html + extends untuk DRY (Don't Repeat Yourself).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2752344"/>
            <a:ext cx="3931920" cy="658368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2752344"/>
            <a:ext cx="64008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36"/>
                </a:solidFill>
              </a:rPr>
              <a:t>💾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68112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model.joblib di root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model terlatih dengan joblib. Pisahkan script training (train.py) dari script serving (app.py).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3502152"/>
            <a:ext cx="3931920" cy="658368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3502152"/>
            <a:ext cx="64008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36"/>
                </a:solidFill>
              </a:rPr>
              <a:t>📦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68112" y="3547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68112" y="3822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catat semua dependensi. Jalankan pip freeze &gt; requirements.txt setelah semua library terinstall.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37760" y="4251960"/>
            <a:ext cx="3931920" cy="658368"/>
          </a:xfrm>
          <a:prstGeom prst="rect">
            <a:avLst/>
          </a:prstGeom>
          <a:solidFill>
            <a:srgbClr val="2D3561"/>
          </a:solidFill>
          <a:ln w="5080">
            <a:solidFill>
              <a:srgbClr val="2D35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4251960"/>
            <a:ext cx="64008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F36"/>
                </a:solidFill>
              </a:rPr>
              <a:t>🌐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468112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untuk isolasi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68112" y="4572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virtual environment agar tidak konflik dengan proyek Python lain di komputer yang sama.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Web Framework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48321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Memulai &amp; Menjalankan Proyek Flask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914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50800" dist="127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6052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Buat Virtual 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3840480" cy="105156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   # Windows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# Mac/Linux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50800" dist="127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78992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155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143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Dependensi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1536192"/>
            <a:ext cx="3840480" cy="105156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62763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Atau manual: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 scikit-learn joblib numpy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07792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50800" dist="127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07792"/>
            <a:ext cx="416052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44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 (sekali saja)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3840480" cy="105156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5643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train_simple.py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model.joblib tersimpan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Berisi: model + accuracy score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907792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8"/>
            </a:solidFill>
            <a:prstDash val="solid"/>
          </a:ln>
          <a:effectLst>
            <a:outerShdw blurRad="50800" dist="12700" dir="8100000" algn="bl" rotWithShape="0">
              <a:srgbClr val="1A1F36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07792"/>
            <a:ext cx="4160520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44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Server Flask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364992"/>
            <a:ext cx="3840480" cy="105156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45643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* Running on http://127.0.0.1:5000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Buka URL di browser!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818888"/>
            <a:ext cx="8595360" cy="237744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8371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Tips: debug=True untuk development (auto-reload kode). Nonaktifkan di production! Gunakan Gunicorn untuk deployment server sesungguhnya.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662327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27248" y="0"/>
            <a:ext cx="146304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untuk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Deployment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560320" cy="4572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880360"/>
            <a:ext cx="73152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98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Ringan, fleksibel, mudah dipelajari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319272"/>
            <a:ext cx="73152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untuk prototyping &amp; production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58184"/>
            <a:ext cx="73152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76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mulus dengan sklearn &amp; joblib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197096"/>
            <a:ext cx="73152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153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penuh atas UI dan logika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457200"/>
            <a:ext cx="5486400" cy="91440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457200"/>
            <a:ext cx="73152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0" y="548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Sederhana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8961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Titanik Predictor hanya butuh ~50 baris kode. Cukup untuk memahami flow lengkap Flask → Model → UI.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1554480"/>
            <a:ext cx="5486400" cy="91440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554480"/>
            <a:ext cx="73152" cy="9144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1148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Cepat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19933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Jupyter Notebook ke web app dalam hitungan jam. debug=True membantu pengembangan yang cepat.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2651760"/>
            <a:ext cx="5486400" cy="91440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2651760"/>
            <a:ext cx="73152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📈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1480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Skalabel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0" y="3090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Dimulai dari micro app, bisa berkembang ke full-stack dengan autentikasi, database, dan API lengkap.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0" y="3749040"/>
            <a:ext cx="5486400" cy="914400"/>
          </a:xfrm>
          <a:prstGeom prst="rect">
            <a:avLst/>
          </a:prstGeom>
          <a:solidFill>
            <a:srgbClr val="2D3561"/>
          </a:solidFill>
          <a:ln w="6350">
            <a:solidFill>
              <a:srgbClr val="2D35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3749040"/>
            <a:ext cx="73152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F36"/>
                </a:solidFill>
              </a:rPr>
              <a:t>🌟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114800" y="3840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Besar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0" y="41879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lengkap di flask.palletsprojects.com. Ribuan tutorial dan library ekstensi siap pakai.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29000" y="4572000"/>
            <a:ext cx="548640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37" name="Text 35"/>
          <p:cNvSpPr/>
          <p:nvPr/>
        </p:nvSpPr>
        <p:spPr>
          <a:xfrm>
            <a:off x="3429000" y="46451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2788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088966701]">
  <a:themeElements>
    <a:clrScheme name="Office">
      <a:dk1>
        <a:srgbClr val="1A1F36"/>
      </a:dk1>
      <a:lt1>
        <a:srgbClr val="F5F5F5"/>
      </a:lt1>
      <a:dk2>
        <a:srgbClr val="2D3561"/>
      </a:dk2>
      <a:lt2>
        <a:srgbClr val="E8EDF8"/>
      </a:lt2>
      <a:accent1>
        <a:srgbClr val="4F8EF7"/>
      </a:accent1>
      <a:accent2>
        <a:srgbClr val="00D4AA"/>
      </a:accent2>
      <a:accent3>
        <a:srgbClr val="FF6B35"/>
      </a:accent3>
      <a:accent4>
        <a:srgbClr val="4F8EF7"/>
      </a:accent4>
      <a:accent5>
        <a:srgbClr val="00D4AA"/>
      </a:accent5>
      <a:accent6>
        <a:srgbClr val="FF6B35"/>
      </a:accent6>
      <a:hlink>
        <a:srgbClr val="0563C1"/>
      </a:hlink>
      <a:folHlink>
        <a:srgbClr val="954F72"/>
      </a:folHlink>
    </a:clrScheme>
    <a:fontScheme name="Office">
      <a:majorFont>
        <a:latin typeface="Segoe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1D5F5D-595E-4DD5-A380-930B4F36621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4f48df0-f740-4e2c-89f2-054e66ad954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2369</Words>
  <Application>Microsoft Office PowerPoint</Application>
  <PresentationFormat>On-screen Show (16:9)</PresentationFormat>
  <Paragraphs>478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 [1776088966701]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Flask: Framework Web Python untuk Deployment Machine Learning</dc:title>
  <dc:subject>PptxGenJS Presentation</dc:subject>
  <dc:creator>Flask Presentation</dc:creator>
  <cp:lastModifiedBy>Arsya Yan Duribta</cp:lastModifiedBy>
  <cp:revision>8</cp:revision>
  <dcterms:created xsi:type="dcterms:W3CDTF">2026-04-13T10:37:38Z</dcterms:created>
  <dcterms:modified xsi:type="dcterms:W3CDTF">2026-04-13T14:56:57Z</dcterms:modified>
</cp:coreProperties>
</file>